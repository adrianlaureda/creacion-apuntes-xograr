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AA"/>
                </a:solidFill>
                <a:latin typeface="Arial"/>
              </a:rPr>
              <a:t>1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Helvetica Neue"/>
              </a:defRPr>
            </a:pPr>
            <a:r>
              <a:t>EXPOSICIÓN ORAL · 2º 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Cómo es </a:t>
            </a:r>
            <a:r>
              <a:rPr sz="3200" b="1">
                <a:solidFill>
                  <a:srgbClr val="00D4AA"/>
                </a:solidFill>
                <a:latin typeface="Helvetica Neue"/>
              </a:rPr>
              <a:t>mi vida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  <a:latin typeface="Helvetica Neue"/>
              </a:defRPr>
            </a:pPr>
            <a:r>
              <a:t>Adri, profesor de Lengua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AA"/>
                </a:solidFill>
                <a:latin typeface="Arial"/>
              </a:rPr>
              <a:t>2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D4AA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  <a:latin typeface="Helvetica Neue"/>
              </a:defRPr>
            </a:pPr>
            <a:r>
              <a:t>AÑOS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AA"/>
                </a:solidFill>
                <a:latin typeface="Arial"/>
              </a:rPr>
              <a:t>3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👨‍👩‍👧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Mi </a:t>
            </a:r>
            <a:r>
              <a:rPr sz="2200" b="1">
                <a:solidFill>
                  <a:srgbClr val="00D4AA"/>
                </a:solidFill>
                <a:latin typeface="Helvetica Neue"/>
              </a:rPr>
              <a:t>familia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Pareja + hija de 7 años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AA"/>
                </a:solidFill>
                <a:latin typeface="Arial"/>
              </a:rPr>
              <a:t>4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D4AA"/>
                </a:solidFill>
                <a:latin typeface="Helvetica Neue"/>
              </a:rPr>
              <a:t>Guntín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Casa de pueblo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98424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INTRODUCCIÓN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AA"/>
                </a:solidFill>
                <a:latin typeface="Arial"/>
              </a:rPr>
              <a:t>5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Helvetica Neue"/>
              </a:defRPr>
            </a:pPr>
            <a:r>
              <a:t>01 DATOS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D4AA"/>
                </a:solidFill>
                <a:latin typeface="Helvetica Neue"/>
              </a:rPr>
              <a:t>35</a:t>
            </a:r>
            <a:r>
              <a:rPr sz="2200" b="1">
                <a:solidFill>
                  <a:srgbClr val="FFFFFF"/>
                </a:solidFill>
                <a:latin typeface="Helvetica Neue"/>
              </a:rPr>
              <a:t> minutos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Al instituto cada día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FF"/>
                </a:solidFill>
                <a:latin typeface="Arial"/>
              </a:rPr>
              <a:t>6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FF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Helvetica Neue"/>
              </a:rPr>
              <a:t>Un día </a:t>
            </a:r>
            <a:r>
              <a:rPr sz="4800" b="1">
                <a:solidFill>
                  <a:srgbClr val="00D4FF"/>
                </a:solidFill>
                <a:latin typeface="Helvetica Neue"/>
              </a:rPr>
              <a:t>normal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FF"/>
                </a:solidFill>
                <a:latin typeface="Arial"/>
              </a:rPr>
              <a:t>7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FF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D4FF"/>
                </a:solidFill>
                <a:latin typeface="Helvetica Neue"/>
              </a:rPr>
              <a:t>Madrugar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Para llegar a tiempo al instituto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FF"/>
                </a:solidFill>
                <a:latin typeface="Arial"/>
              </a:rPr>
              <a:t>8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FF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 Neue"/>
              </a:rPr>
              <a:t>El </a:t>
            </a:r>
            <a:r>
              <a:rPr sz="2400" b="1">
                <a:solidFill>
                  <a:srgbClr val="00D4FF"/>
                </a:solidFill>
                <a:latin typeface="Helvetica Neue"/>
              </a:rPr>
              <a:t>mediodía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40280"/>
            <a:ext cx="731520" cy="7315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🍽️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2666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44444"/>
                </a:solidFill>
                <a:latin typeface="Helvetica Neue"/>
              </a:defRPr>
            </a:pPr>
            <a:r>
              <a:t>Comer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44444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240280"/>
            <a:ext cx="731520" cy="731520"/>
          </a:xfrm>
          <a:prstGeom prst="roundRect">
            <a:avLst/>
          </a:prstGeom>
          <a:solidFill>
            <a:srgbClr val="001A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423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02666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Helvetica Neue"/>
              </a:defRPr>
            </a:pPr>
            <a:r>
              <a:t>Deporte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4028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MI RUTINA</a:t>
            </a:r>
          </a:p>
        </p:txBody>
      </p:sp>
      <p:sp>
        <p:nvSpPr>
          <p:cNvPr id="5" name="Oval 4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4FF"/>
                </a:solidFill>
                <a:latin typeface="Arial"/>
              </a:rPr>
              <a:t>9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D4FF"/>
                </a:solidFill>
                <a:latin typeface="Helvetica Neue"/>
              </a:defRPr>
            </a:pPr>
            <a:r>
              <a:t>02 MI RUTINA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Las </a:t>
            </a:r>
            <a:r>
              <a:rPr sz="2200" b="1">
                <a:solidFill>
                  <a:srgbClr val="00D4FF"/>
                </a:solidFill>
                <a:latin typeface="Helvetica Neue"/>
              </a:rPr>
              <a:t>tardes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Hija · Clases · Descanso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VACACIONES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A623"/>
                </a:solidFill>
                <a:latin typeface="Arial"/>
              </a:rPr>
              <a:t>10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5A623"/>
                </a:solidFill>
                <a:latin typeface="Helvetica Neue"/>
              </a:defRPr>
            </a:pPr>
            <a:r>
              <a:t>03 VACACIONES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Helvetica Neue"/>
              </a:rPr>
              <a:t>Tiempo de </a:t>
            </a:r>
            <a:r>
              <a:rPr sz="4800" b="1">
                <a:solidFill>
                  <a:srgbClr val="F5A623"/>
                </a:solidFill>
                <a:latin typeface="Helvetica Neue"/>
              </a:rPr>
              <a:t>descanso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VACACIONES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A623"/>
                </a:solidFill>
                <a:latin typeface="Arial"/>
              </a:rPr>
              <a:t>11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5A623"/>
                </a:solidFill>
                <a:latin typeface="Helvetica Neue"/>
              </a:defRPr>
            </a:pPr>
            <a:r>
              <a:t>03 VACACIONES · INVIERNO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🏝️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Helvetica Neue"/>
              </a:rPr>
              <a:t>Canarias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Con mis padres · Energía para el 2º trimestre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49631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VACACIONES</a:t>
            </a:r>
          </a:p>
        </p:txBody>
      </p:sp>
      <p:sp>
        <p:nvSpPr>
          <p:cNvPr id="6" name="Oval 5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A623"/>
                </a:solidFill>
                <a:latin typeface="Arial"/>
              </a:rPr>
              <a:t>12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5A623"/>
                </a:solidFill>
                <a:latin typeface="Helvetica Neue"/>
              </a:defRPr>
            </a:pPr>
            <a:r>
              <a:t>03 VACACIONES · VERANO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777240" cy="77724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00300"/>
            <a:ext cx="777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🏖️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Playa </a:t>
            </a:r>
            <a:r>
              <a:rPr sz="2200" b="1">
                <a:solidFill>
                  <a:srgbClr val="F5A623"/>
                </a:solidFill>
                <a:latin typeface="Helvetica Neue"/>
              </a:rPr>
              <a:t>gallega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97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  <a:latin typeface="Helvetica Neue"/>
              </a:defRPr>
            </a:pPr>
            <a:r>
              <a:t>Fiestas familiares + viajes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5234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CONCLUSIONES</a:t>
            </a:r>
          </a:p>
        </p:txBody>
      </p:sp>
      <p:sp>
        <p:nvSpPr>
          <p:cNvPr id="7" name="Oval 6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6B6B"/>
                </a:solidFill>
                <a:latin typeface="Arial"/>
              </a:rPr>
              <a:t>13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6B6B"/>
                </a:solidFill>
                <a:latin typeface="Helvetica Neue"/>
              </a:defRPr>
            </a:pPr>
            <a:r>
              <a:t>04 CONCLUSIONES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Lo que </a:t>
            </a:r>
            <a:r>
              <a:rPr sz="2200" b="1">
                <a:solidFill>
                  <a:srgbClr val="FF6B6B"/>
                </a:solidFill>
                <a:latin typeface="Helvetica Neue"/>
              </a:rPr>
              <a:t>pienso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48840"/>
            <a:ext cx="1737360" cy="10515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58568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D4AA"/>
                </a:solidFill>
                <a:latin typeface="Helvetica Neue"/>
              </a:defRPr>
            </a:pPr>
            <a:r>
              <a:t>✓ Me gusta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59736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888888"/>
                </a:solidFill>
                <a:latin typeface="Helvetica Neue"/>
              </a:defRPr>
            </a:pPr>
            <a:r>
              <a:t>Mi familia</a:t>
            </a:r>
          </a:p>
          <a:p>
            <a:pPr>
              <a:spcAft>
                <a:spcPts val="200"/>
              </a:spcAft>
              <a:defRPr sz="900">
                <a:solidFill>
                  <a:srgbClr val="888888"/>
                </a:solidFill>
                <a:latin typeface="Helvetica Neue"/>
              </a:defRPr>
            </a:pPr>
            <a:r>
              <a:t>Galicia</a:t>
            </a:r>
          </a:p>
          <a:p>
            <a:pPr>
              <a:spcAft>
                <a:spcPts val="200"/>
              </a:spcAft>
              <a:defRPr sz="900">
                <a:solidFill>
                  <a:srgbClr val="888888"/>
                </a:solidFill>
                <a:latin typeface="Helvetica Neue"/>
              </a:defRPr>
            </a:pPr>
            <a:r>
              <a:t>Hacer deporte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148840"/>
            <a:ext cx="1737360" cy="10515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58568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6B6B"/>
                </a:solidFill>
                <a:latin typeface="Helvetica Neue"/>
              </a:defRPr>
            </a:pPr>
            <a:r>
              <a:t>✗ Cambiaría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59736"/>
            <a:ext cx="1554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888888"/>
                </a:solidFill>
                <a:latin typeface="Helvetica Neue"/>
              </a:defRPr>
            </a:pPr>
            <a:r>
              <a:t>La distancia</a:t>
            </a:r>
          </a:p>
          <a:p>
            <a:pPr>
              <a:spcAft>
                <a:spcPts val="200"/>
              </a:spcAft>
              <a:defRPr sz="900">
                <a:solidFill>
                  <a:srgbClr val="888888"/>
                </a:solidFill>
                <a:latin typeface="Helvetica Neue"/>
              </a:defRPr>
            </a:pPr>
            <a:r>
              <a:t>Casa propia</a:t>
            </a:r>
          </a:p>
          <a:p>
            <a:pPr>
              <a:spcAft>
                <a:spcPts val="200"/>
              </a:spcAft>
              <a:defRPr sz="900">
                <a:solidFill>
                  <a:srgbClr val="888888"/>
                </a:solidFill>
                <a:latin typeface="Helvetica Neue"/>
              </a:defRPr>
            </a:pPr>
            <a:r>
              <a:t>El tiempo gallego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" y="2011680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2267712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" y="2523744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2779776"/>
            <a:ext cx="73152" cy="73152"/>
          </a:xfrm>
          <a:prstGeom prst="ellips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" y="3035808"/>
            <a:ext cx="73152" cy="73152"/>
          </a:xfrm>
          <a:prstGeom prst="ellipse">
            <a:avLst/>
          </a:prstGeom>
          <a:solidFill>
            <a:srgbClr val="B0B0B0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008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solidFill>
                  <a:srgbClr val="888888"/>
                </a:solidFill>
                <a:latin typeface="Helvetica Neue"/>
              </a:defRPr>
            </a:pPr>
            <a: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288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B0B0B0"/>
                </a:solidFill>
                <a:latin typeface="Arial"/>
              </a:rPr>
              <a:t>14</a:t>
            </a:r>
            <a:r>
              <a:rPr sz="1000">
                <a:solidFill>
                  <a:srgbClr val="888888"/>
                </a:solidFill>
                <a:latin typeface="Arial"/>
              </a:rPr>
              <a:t>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0B0B0"/>
                </a:solidFill>
                <a:latin typeface="Helvetica Neue"/>
              </a:defRPr>
            </a:pPr>
            <a:r>
              <a:t>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Mi </a:t>
            </a:r>
            <a:r>
              <a:rPr sz="2200" b="1">
                <a:solidFill>
                  <a:srgbClr val="FFFFFF"/>
                </a:solidFill>
                <a:latin typeface="Helvetica Neue"/>
              </a:rPr>
              <a:t>vida</a:t>
            </a:r>
            <a:r>
              <a:rPr sz="2200" b="1">
                <a:solidFill>
                  <a:srgbClr val="FFFFFF"/>
                </a:solidFill>
                <a:latin typeface="Helvetica Neue"/>
              </a:rPr>
              <a:t> en 4 puntos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1554480" cy="10058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👨‍👩‍👧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88888"/>
                </a:solidFill>
                <a:latin typeface="Helvetica Neue"/>
              </a:defRPr>
            </a:pPr>
            <a:r>
              <a:t>42 años · Guntín</a:t>
            </a:r>
            <a:br/>
            <a:r>
              <a:t>Pareja + hija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03120"/>
            <a:ext cx="1554480" cy="10058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88888"/>
                </a:solidFill>
                <a:latin typeface="Helvetica Neue"/>
              </a:defRPr>
            </a:pPr>
            <a:r>
              <a:t>Madrugar · Deporte</a:t>
            </a:r>
            <a:br/>
            <a:r>
              <a:t>Tardes en familia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03120"/>
            <a:ext cx="1554480" cy="10058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88888"/>
                </a:solidFill>
                <a:latin typeface="Helvetica Neue"/>
              </a:defRPr>
            </a:pPr>
            <a:r>
              <a:t>Canarias · Playa</a:t>
            </a:r>
            <a:br/>
            <a:r>
              <a:t>Fiestas familiares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103120"/>
            <a:ext cx="1554480" cy="10058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240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88888"/>
                </a:solidFill>
                <a:latin typeface="Helvetica Neue"/>
              </a:defRPr>
            </a:pPr>
            <a:r>
              <a:t>Me gusta: familia</a:t>
            </a:r>
            <a:br/>
            <a:r>
              <a:t>Cambiaría: distancia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