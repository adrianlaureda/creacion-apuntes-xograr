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009E7A"/>
          </a:solidFill>
          <a:ln w="12700">
            <a:solidFill>
              <a:srgbClr val="00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98424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555555"/>
                </a:solidFill>
                <a:latin typeface="Helvetica Neue"/>
              </a:defRPr>
            </a:pPr>
            <a:r>
              <a:t>INTRODUCCIÓN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9E7A"/>
                </a:solidFill>
                <a:latin typeface="Arial"/>
              </a:rPr>
              <a:t>1</a:t>
            </a:r>
            <a:r>
              <a:rPr sz="1000">
                <a:solidFill>
                  <a:srgbClr val="555555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9E7A"/>
                </a:solidFill>
                <a:latin typeface="Helvetica Neue"/>
              </a:defRPr>
            </a:pPr>
            <a:r>
              <a:t>EXPOSICIÓN ORAL · 2º ESO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A1A1A"/>
                </a:solidFill>
                <a:latin typeface="Helvetica Neue"/>
              </a:rPr>
              <a:t>Cómo es </a:t>
            </a:r>
            <a:r>
              <a:rPr sz="3200" b="1">
                <a:solidFill>
                  <a:srgbClr val="009E7A"/>
                </a:solidFill>
                <a:latin typeface="Helvetica Neue"/>
              </a:rPr>
              <a:t>mi vida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774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555"/>
                </a:solidFill>
                <a:latin typeface="Helvetica Neue"/>
              </a:defRPr>
            </a:pPr>
            <a:r>
              <a:t>Adri, profesor de Lengua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009E7A"/>
          </a:solidFill>
          <a:ln w="12700">
            <a:solidFill>
              <a:srgbClr val="00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98424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555555"/>
                </a:solidFill>
                <a:latin typeface="Helvetica Neue"/>
              </a:defRPr>
            </a:pPr>
            <a:r>
              <a:t>INTRODUCCIÓN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9E7A"/>
                </a:solidFill>
                <a:latin typeface="Arial"/>
              </a:rPr>
              <a:t>2</a:t>
            </a:r>
            <a:r>
              <a:rPr sz="1000">
                <a:solidFill>
                  <a:srgbClr val="555555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9E7A"/>
                </a:solidFill>
                <a:latin typeface="Helvetica Neue"/>
              </a:defRPr>
            </a:pPr>
            <a:r>
              <a:t>01 DATOS BÁSICOS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2880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9E7A"/>
                </a:solidFill>
                <a:latin typeface="Helvetica Neue"/>
              </a:defRPr>
            </a:pPr>
            <a: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55555"/>
                </a:solidFill>
                <a:latin typeface="Helvetica Neue"/>
              </a:defRPr>
            </a:pPr>
            <a:r>
              <a:t>AÑOS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009E7A"/>
          </a:solidFill>
          <a:ln w="12700">
            <a:solidFill>
              <a:srgbClr val="00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98424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555555"/>
                </a:solidFill>
                <a:latin typeface="Helvetica Neue"/>
              </a:defRPr>
            </a:pPr>
            <a:r>
              <a:t>INTRODUCCIÓN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9E7A"/>
                </a:solidFill>
                <a:latin typeface="Arial"/>
              </a:rPr>
              <a:t>3</a:t>
            </a:r>
            <a:r>
              <a:rPr sz="1000">
                <a:solidFill>
                  <a:srgbClr val="555555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9E7A"/>
                </a:solidFill>
                <a:latin typeface="Helvetica Neue"/>
              </a:defRPr>
            </a:pPr>
            <a:r>
              <a:t>01 DATOS BÁSICOS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40280"/>
            <a:ext cx="777240" cy="77724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0030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👨‍👩‍👧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31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elvetica Neue"/>
              </a:rPr>
              <a:t>Mi </a:t>
            </a:r>
            <a:r>
              <a:rPr sz="2200" b="1">
                <a:solidFill>
                  <a:srgbClr val="009E7A"/>
                </a:solidFill>
                <a:latin typeface="Helvetica Neue"/>
              </a:rPr>
              <a:t>familia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97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55555"/>
                </a:solidFill>
                <a:latin typeface="Helvetica Neue"/>
              </a:defRPr>
            </a:pPr>
            <a:r>
              <a:t>Pareja + hija de 7 años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009E7A"/>
          </a:solidFill>
          <a:ln w="12700">
            <a:solidFill>
              <a:srgbClr val="00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98424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555555"/>
                </a:solidFill>
                <a:latin typeface="Helvetica Neue"/>
              </a:defRPr>
            </a:pPr>
            <a:r>
              <a:t>INTRODUCCIÓN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9E7A"/>
                </a:solidFill>
                <a:latin typeface="Arial"/>
              </a:rPr>
              <a:t>4</a:t>
            </a:r>
            <a:r>
              <a:rPr sz="1000">
                <a:solidFill>
                  <a:srgbClr val="555555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9E7A"/>
                </a:solidFill>
                <a:latin typeface="Helvetica Neue"/>
              </a:defRPr>
            </a:pPr>
            <a:r>
              <a:t>01 DATOS BÁSICOS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40280"/>
            <a:ext cx="777240" cy="77724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0030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31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9E7A"/>
                </a:solidFill>
                <a:latin typeface="Helvetica Neue"/>
              </a:rPr>
              <a:t>Guntín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97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55555"/>
                </a:solidFill>
                <a:latin typeface="Helvetica Neue"/>
              </a:defRPr>
            </a:pPr>
            <a:r>
              <a:t>Casa de pueblo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009E7A"/>
          </a:solidFill>
          <a:ln w="12700">
            <a:solidFill>
              <a:srgbClr val="00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98424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555555"/>
                </a:solidFill>
                <a:latin typeface="Helvetica Neue"/>
              </a:defRPr>
            </a:pPr>
            <a:r>
              <a:t>INTRODUCCIÓN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9E7A"/>
                </a:solidFill>
                <a:latin typeface="Arial"/>
              </a:rPr>
              <a:t>5</a:t>
            </a:r>
            <a:r>
              <a:rPr sz="1000">
                <a:solidFill>
                  <a:srgbClr val="555555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9E7A"/>
                </a:solidFill>
                <a:latin typeface="Helvetica Neue"/>
              </a:defRPr>
            </a:pPr>
            <a:r>
              <a:t>01 DATOS BÁSICOS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40280"/>
            <a:ext cx="777240" cy="77724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0030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31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9E7A"/>
                </a:solidFill>
                <a:latin typeface="Helvetica Neue"/>
              </a:rPr>
              <a:t>35</a:t>
            </a:r>
            <a:r>
              <a:rPr sz="2200" b="1">
                <a:solidFill>
                  <a:srgbClr val="1A1A1A"/>
                </a:solidFill>
                <a:latin typeface="Helvetica Neue"/>
              </a:rPr>
              <a:t> minutos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97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55555"/>
                </a:solidFill>
                <a:latin typeface="Helvetica Neue"/>
              </a:defRPr>
            </a:pPr>
            <a:r>
              <a:t>Al instituto cada día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009ECC"/>
          </a:solidFill>
          <a:ln w="12700">
            <a:solidFill>
              <a:srgbClr val="009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4028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555555"/>
                </a:solidFill>
                <a:latin typeface="Helvetica Neue"/>
              </a:defRPr>
            </a:pPr>
            <a:r>
              <a:t>MI RUTINA</a:t>
            </a:r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9ECC"/>
                </a:solidFill>
                <a:latin typeface="Arial"/>
              </a:rPr>
              <a:t>6</a:t>
            </a:r>
            <a:r>
              <a:rPr sz="1000">
                <a:solidFill>
                  <a:srgbClr val="555555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9ECC"/>
                </a:solidFill>
                <a:latin typeface="Helvetica Neue"/>
              </a:defRPr>
            </a:pPr>
            <a:r>
              <a:t>02 MI RUTINA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Helvetica Neue"/>
              </a:rPr>
              <a:t>Un día </a:t>
            </a:r>
            <a:r>
              <a:rPr sz="4800" b="1">
                <a:solidFill>
                  <a:srgbClr val="009ECC"/>
                </a:solidFill>
                <a:latin typeface="Helvetica Neue"/>
              </a:rPr>
              <a:t>normal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009ECC"/>
          </a:solidFill>
          <a:ln w="12700">
            <a:solidFill>
              <a:srgbClr val="009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4028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555555"/>
                </a:solidFill>
                <a:latin typeface="Helvetica Neue"/>
              </a:defRPr>
            </a:pPr>
            <a:r>
              <a:t>MI RUTINA</a:t>
            </a:r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9ECC"/>
                </a:solidFill>
                <a:latin typeface="Arial"/>
              </a:rPr>
              <a:t>7</a:t>
            </a:r>
            <a:r>
              <a:rPr sz="1000">
                <a:solidFill>
                  <a:srgbClr val="555555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9ECC"/>
                </a:solidFill>
                <a:latin typeface="Helvetica Neue"/>
              </a:defRPr>
            </a:pPr>
            <a:r>
              <a:t>02 MI RUTINA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40280"/>
            <a:ext cx="777240" cy="77724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9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0030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31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9ECC"/>
                </a:solidFill>
                <a:latin typeface="Helvetica Neue"/>
              </a:rPr>
              <a:t>Madrugar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97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55555"/>
                </a:solidFill>
                <a:latin typeface="Helvetica Neue"/>
              </a:defRPr>
            </a:pPr>
            <a:r>
              <a:t>Para llegar a tiempo al instituto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009ECC"/>
          </a:solidFill>
          <a:ln w="12700">
            <a:solidFill>
              <a:srgbClr val="009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4028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555555"/>
                </a:solidFill>
                <a:latin typeface="Helvetica Neue"/>
              </a:defRPr>
            </a:pPr>
            <a:r>
              <a:t>MI RUTINA</a:t>
            </a:r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9ECC"/>
                </a:solidFill>
                <a:latin typeface="Arial"/>
              </a:rPr>
              <a:t>8</a:t>
            </a:r>
            <a:r>
              <a:rPr sz="1000">
                <a:solidFill>
                  <a:srgbClr val="555555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9ECC"/>
                </a:solidFill>
                <a:latin typeface="Helvetica Neue"/>
              </a:defRPr>
            </a:pPr>
            <a:r>
              <a:t>02 MI RUTINA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Helvetica Neue"/>
              </a:rPr>
              <a:t>El </a:t>
            </a:r>
            <a:r>
              <a:rPr sz="2400" b="1">
                <a:solidFill>
                  <a:srgbClr val="009ECC"/>
                </a:solidFill>
                <a:latin typeface="Helvetica Neue"/>
              </a:rPr>
              <a:t>mediodía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240280"/>
            <a:ext cx="73152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4231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🍽️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026664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AAAAAA"/>
                </a:solidFill>
                <a:latin typeface="Helvetica Neue"/>
              </a:defRPr>
            </a:pPr>
            <a:r>
              <a:t>Comer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23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AAAAA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240280"/>
            <a:ext cx="731520" cy="731520"/>
          </a:xfrm>
          <a:prstGeom prst="roundRect">
            <a:avLst/>
          </a:prstGeom>
          <a:solidFill>
            <a:srgbClr val="001A22"/>
          </a:solidFill>
          <a:ln w="19050">
            <a:solidFill>
              <a:srgbClr val="009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4231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026664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9ECC"/>
                </a:solidFill>
                <a:latin typeface="Helvetica Neue"/>
              </a:defRPr>
            </a:pPr>
            <a:r>
              <a:t>Deporte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009ECC"/>
          </a:solidFill>
          <a:ln w="12700">
            <a:solidFill>
              <a:srgbClr val="009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4028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555555"/>
                </a:solidFill>
                <a:latin typeface="Helvetica Neue"/>
              </a:defRPr>
            </a:pPr>
            <a:r>
              <a:t>MI RUTINA</a:t>
            </a:r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9ECC"/>
                </a:solidFill>
                <a:latin typeface="Arial"/>
              </a:rPr>
              <a:t>9</a:t>
            </a:r>
            <a:r>
              <a:rPr sz="1000">
                <a:solidFill>
                  <a:srgbClr val="555555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9ECC"/>
                </a:solidFill>
                <a:latin typeface="Helvetica Neue"/>
              </a:defRPr>
            </a:pPr>
            <a:r>
              <a:t>02 MI RUTINA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40280"/>
            <a:ext cx="777240" cy="77724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9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0030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31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elvetica Neue"/>
              </a:rPr>
              <a:t>Las </a:t>
            </a:r>
            <a:r>
              <a:rPr sz="2200" b="1">
                <a:solidFill>
                  <a:srgbClr val="009ECC"/>
                </a:solidFill>
                <a:latin typeface="Helvetica Neue"/>
              </a:rPr>
              <a:t>tardes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97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55555"/>
                </a:solidFill>
                <a:latin typeface="Helvetica Neue"/>
              </a:defRPr>
            </a:pPr>
            <a:r>
              <a:t>Hija · Clases · Descanso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D48500"/>
          </a:solidFill>
          <a:ln w="12700">
            <a:solidFill>
              <a:srgbClr val="D4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49631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555555"/>
                </a:solidFill>
                <a:latin typeface="Helvetica Neue"/>
              </a:defRPr>
            </a:pPr>
            <a:r>
              <a:t>VACACIONES</a:t>
            </a:r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48500"/>
                </a:solidFill>
                <a:latin typeface="Arial"/>
              </a:rPr>
              <a:t>10</a:t>
            </a:r>
            <a:r>
              <a:rPr sz="1000">
                <a:solidFill>
                  <a:srgbClr val="555555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D48500"/>
                </a:solidFill>
                <a:latin typeface="Helvetica Neue"/>
              </a:defRPr>
            </a:pPr>
            <a:r>
              <a:t>03 VACACIONES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Helvetica Neue"/>
              </a:rPr>
              <a:t>Tiempo de </a:t>
            </a:r>
            <a:r>
              <a:rPr sz="4800" b="1">
                <a:solidFill>
                  <a:srgbClr val="D48500"/>
                </a:solidFill>
                <a:latin typeface="Helvetica Neue"/>
              </a:rPr>
              <a:t>descanso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D48500"/>
          </a:solidFill>
          <a:ln w="12700">
            <a:solidFill>
              <a:srgbClr val="D4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49631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555555"/>
                </a:solidFill>
                <a:latin typeface="Helvetica Neue"/>
              </a:defRPr>
            </a:pPr>
            <a:r>
              <a:t>VACACIONES</a:t>
            </a:r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48500"/>
                </a:solidFill>
                <a:latin typeface="Arial"/>
              </a:rPr>
              <a:t>11</a:t>
            </a:r>
            <a:r>
              <a:rPr sz="1000">
                <a:solidFill>
                  <a:srgbClr val="555555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D48500"/>
                </a:solidFill>
                <a:latin typeface="Helvetica Neue"/>
              </a:defRPr>
            </a:pPr>
            <a:r>
              <a:t>03 VACACIONES · INVIERNO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40280"/>
            <a:ext cx="777240" cy="77724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D4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0030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🏝️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31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D48500"/>
                </a:solidFill>
                <a:latin typeface="Helvetica Neue"/>
              </a:rPr>
              <a:t>Canarias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97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55555"/>
                </a:solidFill>
                <a:latin typeface="Helvetica Neue"/>
              </a:defRPr>
            </a:pPr>
            <a:r>
              <a:t>Con mis padres · Energía para el 2º trimestre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D48500"/>
          </a:solidFill>
          <a:ln w="12700">
            <a:solidFill>
              <a:srgbClr val="D4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49631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555555"/>
                </a:solidFill>
                <a:latin typeface="Helvetica Neue"/>
              </a:defRPr>
            </a:pPr>
            <a:r>
              <a:t>VACACIONES</a:t>
            </a:r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48500"/>
                </a:solidFill>
                <a:latin typeface="Arial"/>
              </a:rPr>
              <a:t>12</a:t>
            </a:r>
            <a:r>
              <a:rPr sz="1000">
                <a:solidFill>
                  <a:srgbClr val="555555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D48500"/>
                </a:solidFill>
                <a:latin typeface="Helvetica Neue"/>
              </a:defRPr>
            </a:pPr>
            <a:r>
              <a:t>03 VACACIONES · VERANO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40280"/>
            <a:ext cx="777240" cy="77724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D4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0030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🏖️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31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elvetica Neue"/>
              </a:rPr>
              <a:t>Playa </a:t>
            </a:r>
            <a:r>
              <a:rPr sz="2200" b="1">
                <a:solidFill>
                  <a:srgbClr val="D48500"/>
                </a:solidFill>
                <a:latin typeface="Helvetica Neue"/>
              </a:rPr>
              <a:t>gallega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97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55555"/>
                </a:solidFill>
                <a:latin typeface="Helvetica Neue"/>
              </a:defRPr>
            </a:pPr>
            <a:r>
              <a:t>Fiestas familiares + viajes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E04A4A"/>
          </a:solidFill>
          <a:ln w="12700">
            <a:solidFill>
              <a:srgbClr val="E0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75234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555555"/>
                </a:solidFill>
                <a:latin typeface="Helvetica Neue"/>
              </a:defRPr>
            </a:pPr>
            <a:r>
              <a:t>CONCLUSIONES</a:t>
            </a:r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E04A4A"/>
                </a:solidFill>
                <a:latin typeface="Arial"/>
              </a:rPr>
              <a:t>13</a:t>
            </a:r>
            <a:r>
              <a:rPr sz="1000">
                <a:solidFill>
                  <a:srgbClr val="555555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E04A4A"/>
                </a:solidFill>
                <a:latin typeface="Helvetica Neue"/>
              </a:defRPr>
            </a:pPr>
            <a:r>
              <a:t>04 CONCLUSIONES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Helvetica Neue"/>
              </a:rPr>
              <a:t>Lo que </a:t>
            </a:r>
            <a:r>
              <a:rPr sz="2200" b="1">
                <a:solidFill>
                  <a:srgbClr val="E04A4A"/>
                </a:solidFill>
                <a:latin typeface="Helvetica Neue"/>
              </a:rPr>
              <a:t>pienso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148840"/>
            <a:ext cx="1737360" cy="10515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258568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E7A"/>
                </a:solidFill>
                <a:latin typeface="Helvetica Neue"/>
              </a:defRPr>
            </a:pPr>
            <a:r>
              <a:t>✓ Me gusta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59736"/>
            <a:ext cx="1554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55555"/>
                </a:solidFill>
                <a:latin typeface="Helvetica Neue"/>
              </a:defRPr>
            </a:pPr>
            <a:r>
              <a:t>Mi familia</a:t>
            </a:r>
          </a:p>
          <a:p>
            <a:pPr>
              <a:spcAft>
                <a:spcPts val="200"/>
              </a:spcAft>
              <a:defRPr sz="900">
                <a:solidFill>
                  <a:srgbClr val="555555"/>
                </a:solidFill>
                <a:latin typeface="Helvetica Neue"/>
              </a:defRPr>
            </a:pPr>
            <a:r>
              <a:t>Galicia</a:t>
            </a:r>
          </a:p>
          <a:p>
            <a:pPr>
              <a:spcAft>
                <a:spcPts val="200"/>
              </a:spcAft>
              <a:defRPr sz="900">
                <a:solidFill>
                  <a:srgbClr val="555555"/>
                </a:solidFill>
                <a:latin typeface="Helvetica Neue"/>
              </a:defRPr>
            </a:pPr>
            <a:r>
              <a:t>Hacer deporte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148840"/>
            <a:ext cx="1737360" cy="10515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258568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04A4A"/>
                </a:solidFill>
                <a:latin typeface="Helvetica Neue"/>
              </a:defRPr>
            </a:pPr>
            <a:r>
              <a:t>✗ Cambiaría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459736"/>
            <a:ext cx="1554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55555"/>
                </a:solidFill>
                <a:latin typeface="Helvetica Neue"/>
              </a:defRPr>
            </a:pPr>
            <a:r>
              <a:t>La distancia</a:t>
            </a:r>
          </a:p>
          <a:p>
            <a:pPr>
              <a:spcAft>
                <a:spcPts val="200"/>
              </a:spcAft>
              <a:defRPr sz="900">
                <a:solidFill>
                  <a:srgbClr val="555555"/>
                </a:solidFill>
                <a:latin typeface="Helvetica Neue"/>
              </a:defRPr>
            </a:pPr>
            <a:r>
              <a:t>Casa propia</a:t>
            </a:r>
          </a:p>
          <a:p>
            <a:pPr>
              <a:spcAft>
                <a:spcPts val="200"/>
              </a:spcAft>
              <a:defRPr sz="900">
                <a:solidFill>
                  <a:srgbClr val="555555"/>
                </a:solidFill>
                <a:latin typeface="Helvetica Neue"/>
              </a:defRPr>
            </a:pPr>
            <a:r>
              <a:t>El tiempo gallego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707070"/>
          </a:solidFill>
          <a:ln w="1270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3008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555555"/>
                </a:solidFill>
                <a:latin typeface="Helvetica Neue"/>
              </a:defRPr>
            </a:pPr>
            <a:r>
              <a:t>RECAP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07070"/>
                </a:solidFill>
                <a:latin typeface="Arial"/>
              </a:rPr>
              <a:t>14</a:t>
            </a:r>
            <a:r>
              <a:rPr sz="1000">
                <a:solidFill>
                  <a:srgbClr val="555555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707070"/>
                </a:solidFill>
                <a:latin typeface="Helvetica Neue"/>
              </a:defRPr>
            </a:pPr>
            <a:r>
              <a:t>RECAP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Helvetica Neue"/>
              </a:rPr>
              <a:t>Mi </a:t>
            </a:r>
            <a:r>
              <a:rPr sz="2200" b="1">
                <a:solidFill>
                  <a:srgbClr val="1A1A1A"/>
                </a:solidFill>
                <a:latin typeface="Helvetica Neue"/>
              </a:rPr>
              <a:t>vida</a:t>
            </a:r>
            <a:r>
              <a:rPr sz="2200" b="1">
                <a:solidFill>
                  <a:srgbClr val="1A1A1A"/>
                </a:solidFill>
                <a:latin typeface="Helvetica Neue"/>
              </a:rPr>
              <a:t> en 4 puntos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1554480" cy="10058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2402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👨‍👩‍👧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5603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555555"/>
                </a:solidFill>
                <a:latin typeface="Helvetica Neue"/>
              </a:defRPr>
            </a:pPr>
            <a:r>
              <a:t>42 años · Guntín</a:t>
            </a:r>
            <a:br/>
            <a:r>
              <a:t>Pareja + hija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103120"/>
            <a:ext cx="1554480" cy="10058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2402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5603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555555"/>
                </a:solidFill>
                <a:latin typeface="Helvetica Neue"/>
              </a:defRPr>
            </a:pPr>
            <a:r>
              <a:t>Madrugar · Deporte</a:t>
            </a:r>
            <a:br/>
            <a:r>
              <a:t>Tardes en familia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103120"/>
            <a:ext cx="1554480" cy="10058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2402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🏖️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5603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555555"/>
                </a:solidFill>
                <a:latin typeface="Helvetica Neue"/>
              </a:defRPr>
            </a:pPr>
            <a:r>
              <a:t>Canarias · Playa</a:t>
            </a:r>
            <a:br/>
            <a:r>
              <a:t>Fiestas familiares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103120"/>
            <a:ext cx="1554480" cy="10058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2402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5603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555555"/>
                </a:solidFill>
                <a:latin typeface="Helvetica Neue"/>
              </a:defRPr>
            </a:pPr>
            <a:r>
              <a:t>Me gusta: familia</a:t>
            </a:r>
            <a:br/>
            <a:r>
              <a:t>Cambiaría: distancia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